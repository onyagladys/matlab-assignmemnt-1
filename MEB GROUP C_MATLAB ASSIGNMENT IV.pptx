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24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26420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067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22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2636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70320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CF02-D35E-46A4-B7A1-1A2B81F8D932}" type="datetime1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865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0015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419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8086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6196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9815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18229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835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9801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3814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03221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67867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68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7721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  <p:sldLayoutId id="2147483744" r:id="rId17"/>
    <p:sldLayoutId id="214748374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419352"/>
            <a:ext cx="11247120" cy="645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A62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Numerical Methods Assignment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94538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A62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Secant • Newton–Raphson • Runge–Kutta (RK4)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80720"/>
            <a:ext cx="11247120" cy="8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Verdana" pitchFamily="34" charset="0"/>
                <a:ea typeface="Verdana" pitchFamily="34" charset="-122"/>
              </a:rPr>
              <a:t>MEB GROUP C_MATLAB ASSIGNMENT IV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122823"/>
              </p:ext>
            </p:extLst>
          </p:nvPr>
        </p:nvGraphicFramePr>
        <p:xfrm>
          <a:off x="502920" y="2651760"/>
          <a:ext cx="7589520" cy="197510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No.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Name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Registration No.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charset="0"/>
                        </a:rPr>
                        <a:t>BABUWAGUZA SAMUEL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BU/UG/2025/05903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charset="0"/>
                        </a:rPr>
                        <a:t>LUBOWA NATHANEAL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BU/UG/2025/4433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charset="0"/>
                        </a:rPr>
                        <a:t>AKWI GLADYS ONYA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BU/UP/2025/3216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charset="0"/>
                        </a:rPr>
                        <a:t>KALANDA KENNETH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BU/UP/2025/1524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charset="0"/>
                        </a:rPr>
                        <a:t>WAMBI SAMUEL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BU/UP/2025/3227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Assignment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18872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Solve the math questions using the 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Secant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Runge–Kutta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Newton–Raphson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methods.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72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7264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Give solutions using both a “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loop and a “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while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” loop for each of the equations.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56560"/>
            <a:ext cx="274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956560"/>
            <a:ext cx="104698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flowchart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write the 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pseudocode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for each method.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97580"/>
            <a:ext cx="2743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497580"/>
            <a:ext cx="104698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All the work is to be presented in 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Word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r>
              <a:rPr lang="en-US" sz="2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PowerPoint</a:t>
            </a:r>
            <a:r>
              <a:rPr lang="en-US" sz="20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Question 1: Newton–Raphson Method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solidFill>
            <a:srgbClr val="E8F0F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Use Newton’s method to find the zeros of f(x) = 1 − 3x + ½ x e</a:t>
            </a:r>
            <a:r>
              <a:rPr lang="en-US" sz="1600" baseline="3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accurate to five decimal places.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83080"/>
            <a:ext cx="11155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Newton–Raphson formula: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n+1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/ f′(x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f(x) = 1 − 3x + ½ x e</a:t>
            </a:r>
            <a:r>
              <a:rPr lang="en-US" sz="1600" baseline="3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⇒ f′(x) = ½ (1 + x) e</a:t>
            </a:r>
            <a:r>
              <a:rPr lang="en-US" sz="1600" baseline="3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− 3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n+1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(1 − 3x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½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</a:t>
            </a:r>
            <a:r>
              <a:rPr lang="en-US" sz="1600" baseline="3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xₙ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/ (½ (1 +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e</a:t>
            </a:r>
            <a:r>
              <a:rPr lang="en-US" sz="1600" baseline="3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xₙ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− 3)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Five decimal places ⇒ tolerance ε = 0.000005. Sketching f(x) shows two zeros, one near 0.5 and the other near 1.6, so we start from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0.5 and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1.6.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Q1 Solution – Newton’s iterations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Starting value x</a:t>
            </a:r>
            <a:r>
              <a:rPr lang="en-US" sz="1800" b="1" baseline="-40000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0.5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521208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</a:t>
                      </a: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|x</a:t>
                      </a: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n+1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− x</a:t>
                      </a: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|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0.500000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0.450200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0.049800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0.451541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0.001341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0.451542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0.000001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0" y="1051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Starting value x</a:t>
            </a:r>
            <a:r>
              <a:rPr lang="en-US" sz="1800" b="1" baseline="-40000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1.6</a:t>
            </a:r>
            <a:endParaRPr lang="en-US" sz="18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08760"/>
          <a:ext cx="5212080" cy="219456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</a:t>
                      </a: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|x</a:t>
                      </a: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n+1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− x</a:t>
                      </a: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|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1.600000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1.552769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0.047231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1.549552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0.003217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1.549538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0.000014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1.549538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0.000000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02920" y="4023360"/>
            <a:ext cx="2743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023360"/>
            <a:ext cx="1065276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zero close to 0.5 is </a:t>
            </a:r>
            <a:r>
              <a:rPr lang="en-US" sz="1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 = 0.45154</a:t>
            </a: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(5 d.p.).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4514850"/>
            <a:ext cx="2743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514850"/>
            <a:ext cx="1065276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zero close to 1.6 is </a:t>
            </a:r>
            <a:r>
              <a:rPr lang="en-US" sz="1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 = 1.54954</a:t>
            </a: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(5 d.p.).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Q1 Flowchart – Newton–Raphson Method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900" dirty="0"/>
          </a:p>
        </p:txBody>
      </p:sp>
      <p:pic>
        <p:nvPicPr>
          <p:cNvPr id="6" name="Image 0" descr="/home/claude/work/flow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6675120" cy="48546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6002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While-loop version shown. In the for-loop version the test is replaced by the counter n = 1 … Nmax, with an early exit (break) when err ≤ ε.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Q1 Pseudocode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“for” loop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“while” loop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5448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eps, Nmax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f(x) = 1 - 3x + 0.5*x*e^x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f'(x) = 0.5*(1 + x)*e^x - 3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← x0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= 1 TO Nmax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x_new ← x - f(x) / f'(x)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← |x_new - x|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n, x_new, err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≤ eps THEN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 "Root =", x_new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STOP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← x_new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"No convergence in Nmax steps"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eps, Nmax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f(x) = 1 - 3x + 0.5*x*e^x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f'(x) = 0.5*(1 + x)*e^x - 3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← x0 ; n ← 0 ; err ←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 eps AND n &lt; Nmax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x_new ← x - f(x) / f'(x)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← |x_new - x|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← x_new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← n + 1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n, x, err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"Root =", x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Q1 Code – “for” loop (MATLAB)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Q1: Newton-Raphson (FOR loop)  f(x) = 1 - 3x + 0.5*x*e^x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clear; clc;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1 - 3*x + 0.5*x.*exp(x);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0.5*(1 + x).*exp(x) - 3;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 = 0.000005;  Nmax = 50;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 = [0.5, 1.6];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= 1:numel(starts)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starts(s);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fprintf('x0 = %.1f\n', 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fprintf('%2d %10.6f\n', 0, 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= 1:Nmax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x_new = x - f(x)/df(x);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   = abs(x_new - 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fprintf('%2d %10.6f %10.6f\n', n, x_new, err);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x_new;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err &lt;= tol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fprintf('Root = %.5f\n\n', 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Q1 Code – “while” loop (MATLAB) and output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72237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Q1: Newton-Raphson (WHILE loop)  f(x) = 1 - 3x + 0.5*x*e^x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clear; clc;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= @(x) 1 - 3*x + 0.5*x.*exp(x);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@(x) 0.5*(1 + x).*exp(x) - 3;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 = 0.000005;  Nmax = 50;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 = [0.5, 1.6];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= 1:numel(starts)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starts(s);  n = 0;  err =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fprintf('x0 = %.1f\n', 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fprintf('%2d %10.6f\n', 0, 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err &gt; tol &amp;&amp; n &lt; Nmax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x_new = x - f(x)/df(x);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   = abs(x_new - 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    = x_new;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    = n + 1;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fprintf('%2d %10.6f %10.6f\n', n, x, err);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fprintf('Root = %.5f\n\n', x);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Output (same for both loops)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50876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0   0.500000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1   0.450200   0.049800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2   0.451541   0.001341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3   0.451542   0.000001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0.45154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1.6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0   1.600000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1   1.552769   0.047231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2   1.549552   0.003217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3   1.549538   0.000014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4   1.549538   0.000000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1.54954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Question 2: Secant Method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548640"/>
          </a:xfrm>
          <a:prstGeom prst="rect">
            <a:avLst/>
          </a:prstGeom>
          <a:solidFill>
            <a:srgbClr val="E8F0F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Find the positive solution of f(x) = x − 2 sin x = 0 by the secant method, starting with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2 and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1.9.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83080"/>
            <a:ext cx="11155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Secant formula: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n+1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n−1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/ (f(x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−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n−1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)) =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N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/ D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where N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n−1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and D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−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n−1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), with f(x) = x − 2 sin x.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Stopping rule: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|x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n+1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−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| &lt; 0.0000005 (six decimal places). Starting values: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2,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1.9.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Q2 Solution – Secant iterations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2286000"/>
        </p:xfrm>
        <a:graphic>
          <a:graphicData uri="http://schemas.openxmlformats.org/drawingml/2006/table">
            <a:tbl>
              <a:tblPr/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</a:t>
                      </a:r>
                      <a:r>
                        <a:rPr lang="en-US" sz="16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n−1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</a:t>
                      </a:r>
                      <a:r>
                        <a:rPr lang="en-US" sz="16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r>
                        <a:rPr lang="en-US" sz="16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</a:t>
                      </a:r>
                      <a:r>
                        <a:rPr lang="en-US" sz="16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|x</a:t>
                      </a:r>
                      <a:r>
                        <a:rPr lang="en-US" sz="16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n+1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− x</a:t>
                      </a:r>
                      <a:r>
                        <a:rPr lang="en-US" sz="16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|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2.000000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1.900000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-7.400e-04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-1.740e-01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0.004253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1.900000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1.895747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-1.763e-06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-6.985e-03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0.000252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1.895747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1.895495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-2.719e-10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-4.136e-04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0.000001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1.895495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1.895494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-1.037e-16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-1.077e-06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0.000000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4114800"/>
            <a:ext cx="27432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10835640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positive root is </a:t>
            </a:r>
            <a:r>
              <a:rPr lang="en-US" sz="18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 = 1.895494</a:t>
            </a: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(correct to 6 d.p.).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4606290"/>
            <a:ext cx="2743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606290"/>
            <a:ext cx="10835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derivative is needed; only two starting values, and convergence is faster than linear.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Q2 Flowchart – Secant Method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900" dirty="0"/>
          </a:p>
        </p:txBody>
      </p:sp>
      <p:pic>
        <p:nvPicPr>
          <p:cNvPr id="6" name="Image 0" descr="/home/claude/work/flow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6675120" cy="48546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6002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While-loop version shown. In the for-loop version the test is replaced by the counter n = 1 … Nmax, with an early exit (break) when err &lt; ε.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Q2 Pseudocode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“for” loop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“while” loop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5448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x1, eps, Nmax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f(x) = x - 2*sin(x)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= 1 TO Nmax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← f(x1) * (x1 - x0)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← f(x1) - f(x0)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 = 0 THEN STOP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← x1 - N /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← |x2 - x1|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n, x0, x1, N, D, err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eps THEN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 "Root =", x2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STOP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← x1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← x2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x1, eps, Nmax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f(x) = x - 2*sin(x)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← 0 ; err ←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≥ eps AND n &lt; Nmax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← f(x1) * (x1 - x0)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← f(x1) - f(x0)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 = 0 THEN STOP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← x1 - N / 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← |x2 - x1|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← n + 1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n, x0, x1, N, D, err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← x1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← x2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"Root =", x1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Q2 Code – “for” loop (MATLAB)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Q2: Secant method (FOR loop)  f(x) = x - 2 sin(x),  x0 = 2, x1 = 1.9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clear; clc;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x - 2*sin(x);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2;  x1 = 1.9;  tol = 0.0000005;  Nmax = 50;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= 1:Nmax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f(x1)*(x1 - x0);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f(x1) - f(x0);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 ==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= x1 - N/D;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abs(x2 - x1);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fprintf('%2d %9.6f %9.6f %11.3e %11.3e %10.6f\n', n, x0, x1, N, D, err);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  x1 = x2;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err &lt; tol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x1);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Q2 Code – “while” loop (MATLAB) and output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72237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Q2: Secant method (WHILE loop)  f(x) = x - 2 sin(x),  x0 = 2, x1 = 1.9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clear; clc;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@(x) x - 2*sin(x);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2;  x1 = 1.9;  tol = 0.0000005;  Nmax = 50;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0;  err =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err &gt;= tol &amp;&amp; n &lt; Nmax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f(x1)*(x1 - x0);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f(x1) - f(x0);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 ==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 = x1 - N/D;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 = abs(x2 - x1);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  = n + 1;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fprintf('%2d %9.6f %9.6f %11.3e %11.3e %10.6f\n', n, x0, x1, N, D, err);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x1;  x1 = x2;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fprintf('Root = %.6f\n', x1);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Output (same for both loops)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50876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 2.000000  1.900000  -7.400e-04  -1.740e-01   0.004253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  1.900000  1.895747  -1.763e-06  -6.985e-03   0.000252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  1.895747  1.895495  -2.719e-10  -4.136e-04   0.000001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  1.895495  1.895494  -1.037e-16  -1.077e-06   0.000000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1.895494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Question 3: Fourth-Order Runge–Kutta (RK4)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11155680" cy="868680"/>
          </a:xfrm>
          <a:prstGeom prst="rect">
            <a:avLst/>
          </a:prstGeom>
          <a:solidFill>
            <a:srgbClr val="E8F0F8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972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Example 4.5.3: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Use the fourth-order Runge–Kutta algorithm with step size h = 0.2 to solve the initial value problem dy/dx + 2y = sin 3x with y(0) = 1 in the interval 0 ≤ x ≤ 2.4.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94560"/>
            <a:ext cx="11155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Rewrite as dy/dx = f(x, y) = sin 3x − 2y, 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0,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1, h = 0.2 (12 steps to reach x = 2.4).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RK4 formulas: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h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),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h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h/2,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/2),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h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h/2,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/2),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h f(x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h,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n+1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(k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+ 2k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+ 2k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+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/ 6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First step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(x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0,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1):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-0.400000,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-0.260896,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-0.288717, k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-0.171585 ⇒ y</a:t>
            </a:r>
            <a:r>
              <a:rPr lang="en-US" sz="1600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0.721532.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Q3 Solution – RK4 (h = 0.2)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960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Step-by-step RK4 computation (h = 0.2)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6766560" cy="3566160"/>
        </p:xfrm>
        <a:graphic>
          <a:graphicData uri="http://schemas.openxmlformats.org/drawingml/2006/table">
            <a:tbl>
              <a:tblPr/>
              <a:tblGrid>
                <a:gridCol w="84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58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y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k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k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k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k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y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n+1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1.000000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-0.400000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-0.260896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-0.288717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-0.171585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0.721532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0.721532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-0.175684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-0.096810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-0.112585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-0.057171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0.612924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0.612924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-0.058762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-0.033918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-0.038887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-0.034845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0.573054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0.573054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-0.034452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-0.049689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-0.046642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-0.075472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0.522623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0.522623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-0.073957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-0.108782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-0.101817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-0.140099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0.416748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0.416748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-0.138475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-0.170553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-0.164138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-0.189548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0.250514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0.250514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-0.188710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-0.200017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-0.197755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-0.195418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0.053902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0.053902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-0.195876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-0.177891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-0.181488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-0.148198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-0.123237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-0.123237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-0.149938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-0.105880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-0.114692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-0.059381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-0.231648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-0.231648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-0.061894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-0.005099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-0.016458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0.043359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-0.241923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-0.241923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0.040886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0.091955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0.081741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0.126381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-0.156146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-0.156146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0.124767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0.153193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0.147508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0.162189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-0.008087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49808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RK4 result compared with the exact solution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297680" cy="3840480"/>
        </p:xfrm>
        <a:graphic>
          <a:graphicData uri="http://schemas.openxmlformats.org/drawingml/2006/table">
            <a:tbl>
              <a:tblPr/>
              <a:tblGrid>
                <a:gridCol w="859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y</a:t>
                      </a:r>
                      <a:r>
                        <a:rPr lang="en-US" sz="900" b="1" baseline="-40000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(RK4)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y exact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|error|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1.000000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1.000000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0.000000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0.721532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0.721415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0.000116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0.612924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0.612790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0.000134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0.573054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0.572955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0.000100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0.522623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0.522573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0.000050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0.416748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0.416737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0.000011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0.250514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0.250517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0.000003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0.053902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0.053892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0.000010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-0.123237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-0.123279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0.000042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1.8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-0.231648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-0.231725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0.000077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-0.241923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-0.242022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0.000100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-0.156146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-0.156244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0.000098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2.4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-0.008087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-0.008157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0.000070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36576" marR="36576" marT="9144" marB="9144"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02920" y="5715000"/>
            <a:ext cx="2743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5715000"/>
            <a:ext cx="10835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y(2.4) ≈ </a:t>
            </a:r>
            <a:r>
              <a:rPr lang="en-US" sz="115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−0.008087</a:t>
            </a: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by RK4.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6045518"/>
            <a:ext cx="27432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•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6045518"/>
            <a:ext cx="1083564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Exact solution y = (2 sin 3x − 3 cos 3x)/13 + (16/13)e</a:t>
            </a:r>
            <a:r>
              <a:rPr lang="en-US" sz="1150" baseline="3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−2x</a:t>
            </a: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gives −0.008157, so the largest error is about 1 × 10</a:t>
            </a:r>
            <a:r>
              <a:rPr lang="en-US" sz="1150" baseline="3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−4</a:t>
            </a: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Q3 Flowchart – Fourth-Order Runge–Kutta (RK4)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900" dirty="0"/>
          </a:p>
        </p:txBody>
      </p:sp>
      <p:pic>
        <p:nvPicPr>
          <p:cNvPr id="6" name="Image 0" descr="/home/claude/work/flow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6675120" cy="485463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051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60020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While-loop version shown. In the for-loop version the test is replaced by the counter i = 1 … steps.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Q3 Pseudocode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“for” loop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005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“while” loop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5448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y0, h, xend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f(x, y) = sin(3x) - 2y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← (xend - x0) / 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← x0 ; y ← y0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0, x,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steps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← h * f(x, 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← h * f(x + h/2, y + k1/2)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← h * f(x + h/2, y + k2/2)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← h * f(x + h, y + k3)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← y + (k1 + 2*k2 + 2*k3 + k4) /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← x0 + i*h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i, x,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554480"/>
            <a:ext cx="54864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x0, y0, h, xend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f(x, y) = sin(3x) - 2y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← x0 ; y ← y0 ; i ←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0, x,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xend 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← h * f(x, 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← h * f(x + h/2, y + k1/2)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← h * f(x + h/2, y + k2/2)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← h * f(x + h, y + k3)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← y + (k1 + 2*k2 + 2*k3 + k4) /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← i + 1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← x0 + i*h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 i, x, 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Q3 Code – “for” loop (MATLAB)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1115568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Q3: Runge-Kutta 4 (FOR loop)  dy/dx = sin(3x) - 2y, y(0) = 1, h = 0.2, 0&lt;=x&lt;=2.4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clear; clc;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@(x,y) sin(3*x) - 2*y;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 y0 = 1;  h = 0.2;  xend = 2.4;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 = round((xend - x0)/h);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x0;  y = y0;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fprintf('%2d %4.1f %10.6f\n', 0, x, y);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1:steps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h*f(x, y);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h*f(x + h/2, y + k1/2);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h*f(x + h/2, y + k2/2);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h*f(x + h,   y + k3);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= y + (k1 + 2*k2 + 2*k3 + k4)/6;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= x0 + i*h;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fprintf('%2d %4.1f %10.6f\n', i, x, y);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Q3 Code – “while” loop (MATLAB) and output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097280"/>
            <a:ext cx="722376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Q3: Runge-Kutta 4 (WHILE loop)  dy/dx = sin(3x) - 2y, y(0) = 1, h = 0.2, 0&lt;=x&lt;=2.4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clear; clc;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@(x,y) sin(3*x) - 2*y;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0;  y0 = 1;  h = 0.2;  xend = 2.4;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x0;  y = y0;  i = 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fprintf('%2d %4.1f %10.6f\n', i, x, 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xend - 1e-9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h*f(x, 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h*f(x + h/2, y + k1/2);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h*f(x + h/2, y + k2/2);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h*f(x + h,   y + k3);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= y + (k1 + 2*k2 + 2*k3 + k4)/6;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 = i + 1;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= x0 + i*h;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fprintf('%2d %4.1f %10.6f\n', i, x, y);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Output (same for both loops)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50876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0  0.0   1.000000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1  0.2   0.721532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2  0.4   0.612924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3  0.6   0.573054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4  0.8   0.522623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5  1.0   0.416748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6  1.2   0.250514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7  1.4   0.053902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1.6  -0.123237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1.8  -0.231648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2.0  -0.241923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2.2  -0.156146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2.4  -0.008087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Summary of Results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1828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Method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Problem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Result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Newton–Raphson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f(x) = 1 − 3x + ½ x e</a:t>
                      </a:r>
                      <a:r>
                        <a:rPr lang="en-US" sz="1600" baseline="300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 = 0.45154 and x = 1.54954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Secant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f(x) = x − 2 sin x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 = 1.895494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Runge–Kutta (RK4)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dy/dx + 2y = sin 3x, y(0) = 1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y(2.4) ≈ −0.008087</a:t>
                      </a:r>
                      <a:endParaRPr lang="en-US" sz="16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F9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3474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Group 15 – WAR Assignment</a:t>
            </a:r>
            <a:endParaRPr lang="en-US" sz="2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3591</Words>
  <Application>Microsoft Office PowerPoint</Application>
  <PresentationFormat>Widescreen</PresentationFormat>
  <Paragraphs>611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Century Gothic</vt:lpstr>
      <vt:lpstr>Courier New</vt:lpstr>
      <vt:lpstr>Verdana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4 GROUP 15</dc:title>
  <dc:subject>ASSIGNMENT 4 GROUP 15</dc:subject>
  <dc:creator>Group 15</dc:creator>
  <cp:lastModifiedBy>SAMUEL BABUWAGUZA</cp:lastModifiedBy>
  <cp:revision>4</cp:revision>
  <dcterms:created xsi:type="dcterms:W3CDTF">2026-09-29T07:25:52Z</dcterms:created>
  <dcterms:modified xsi:type="dcterms:W3CDTF">2026-09-29T10:22:42Z</dcterms:modified>
</cp:coreProperties>
</file>